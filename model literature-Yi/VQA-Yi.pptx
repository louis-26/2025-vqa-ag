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51" r:id="rId2"/>
    <p:sldId id="2952" r:id="rId3"/>
    <p:sldId id="2954" r:id="rId4"/>
    <p:sldId id="2955" r:id="rId5"/>
    <p:sldId id="2959" r:id="rId6"/>
    <p:sldId id="2960" r:id="rId7"/>
    <p:sldId id="2961" r:id="rId8"/>
    <p:sldId id="29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65265-5158-47ED-5C29-C48D5D8168E4}" v="15" dt="2025-08-03T01:23:39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 Lu" userId="S::ylu174@jh.edu::a5218032-baa1-4f36-b196-5544439c3648" providerId="AD" clId="Web-{69D65265-5158-47ED-5C29-C48D5D8168E4}"/>
    <pc:docChg chg="addSld delSld modSld">
      <pc:chgData name="Yi Lu" userId="S::ylu174@jh.edu::a5218032-baa1-4f36-b196-5544439c3648" providerId="AD" clId="Web-{69D65265-5158-47ED-5C29-C48D5D8168E4}" dt="2025-08-03T01:23:39.490" v="14"/>
      <pc:docMkLst>
        <pc:docMk/>
      </pc:docMkLst>
      <pc:sldChg chg="delSp del">
        <pc:chgData name="Yi Lu" userId="S::ylu174@jh.edu::a5218032-baa1-4f36-b196-5544439c3648" providerId="AD" clId="Web-{69D65265-5158-47ED-5C29-C48D5D8168E4}" dt="2025-08-02T18:58:19.871" v="2"/>
        <pc:sldMkLst>
          <pc:docMk/>
          <pc:sldMk cId="109857222" sldId="256"/>
        </pc:sldMkLst>
        <pc:spChg chg="del">
          <ac:chgData name="Yi Lu" userId="S::ylu174@jh.edu::a5218032-baa1-4f36-b196-5544439c3648" providerId="AD" clId="Web-{69D65265-5158-47ED-5C29-C48D5D8168E4}" dt="2025-08-02T18:58:18.903" v="1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Yi Lu" userId="S::ylu174@jh.edu::a5218032-baa1-4f36-b196-5544439c3648" providerId="AD" clId="Web-{69D65265-5158-47ED-5C29-C48D5D8168E4}" dt="2025-08-02T18:58:17.621" v="0"/>
          <ac:spMkLst>
            <pc:docMk/>
            <pc:sldMk cId="109857222" sldId="256"/>
            <ac:spMk id="3" creationId="{00000000-0000-0000-0000-000000000000}"/>
          </ac:spMkLst>
        </pc:spChg>
      </pc:sldChg>
      <pc:sldChg chg="delSp new del">
        <pc:chgData name="Yi Lu" userId="S::ylu174@jh.edu::a5218032-baa1-4f36-b196-5544439c3648" providerId="AD" clId="Web-{69D65265-5158-47ED-5C29-C48D5D8168E4}" dt="2025-08-03T01:23:39.490" v="14"/>
        <pc:sldMkLst>
          <pc:docMk/>
          <pc:sldMk cId="1420796604" sldId="256"/>
        </pc:sldMkLst>
        <pc:spChg chg="del">
          <ac:chgData name="Yi Lu" userId="S::ylu174@jh.edu::a5218032-baa1-4f36-b196-5544439c3648" providerId="AD" clId="Web-{69D65265-5158-47ED-5C29-C48D5D8168E4}" dt="2025-08-02T18:58:24.247" v="4"/>
          <ac:spMkLst>
            <pc:docMk/>
            <pc:sldMk cId="1420796604" sldId="256"/>
            <ac:spMk id="2" creationId="{56C3F458-E8F3-E85B-1420-FDECCA0BDB1F}"/>
          </ac:spMkLst>
        </pc:spChg>
        <pc:spChg chg="del">
          <ac:chgData name="Yi Lu" userId="S::ylu174@jh.edu::a5218032-baa1-4f36-b196-5544439c3648" providerId="AD" clId="Web-{69D65265-5158-47ED-5C29-C48D5D8168E4}" dt="2025-08-02T18:58:25.450" v="5"/>
          <ac:spMkLst>
            <pc:docMk/>
            <pc:sldMk cId="1420796604" sldId="256"/>
            <ac:spMk id="3" creationId="{EEBD632E-782A-EF86-0686-E972268D4BC7}"/>
          </ac:spMkLst>
        </pc:spChg>
      </pc:sldChg>
      <pc:sldChg chg="add">
        <pc:chgData name="Yi Lu" userId="S::ylu174@jh.edu::a5218032-baa1-4f36-b196-5544439c3648" providerId="AD" clId="Web-{69D65265-5158-47ED-5C29-C48D5D8168E4}" dt="2025-08-03T01:23:35.412" v="6"/>
        <pc:sldMkLst>
          <pc:docMk/>
          <pc:sldMk cId="838412737" sldId="2951"/>
        </pc:sldMkLst>
      </pc:sldChg>
      <pc:sldChg chg="add">
        <pc:chgData name="Yi Lu" userId="S::ylu174@jh.edu::a5218032-baa1-4f36-b196-5544439c3648" providerId="AD" clId="Web-{69D65265-5158-47ED-5C29-C48D5D8168E4}" dt="2025-08-03T01:23:35.458" v="7"/>
        <pc:sldMkLst>
          <pc:docMk/>
          <pc:sldMk cId="1778006595" sldId="2952"/>
        </pc:sldMkLst>
      </pc:sldChg>
      <pc:sldChg chg="add">
        <pc:chgData name="Yi Lu" userId="S::ylu174@jh.edu::a5218032-baa1-4f36-b196-5544439c3648" providerId="AD" clId="Web-{69D65265-5158-47ED-5C29-C48D5D8168E4}" dt="2025-08-03T01:23:35.474" v="8"/>
        <pc:sldMkLst>
          <pc:docMk/>
          <pc:sldMk cId="2067165522" sldId="2954"/>
        </pc:sldMkLst>
      </pc:sldChg>
      <pc:sldChg chg="add">
        <pc:chgData name="Yi Lu" userId="S::ylu174@jh.edu::a5218032-baa1-4f36-b196-5544439c3648" providerId="AD" clId="Web-{69D65265-5158-47ED-5C29-C48D5D8168E4}" dt="2025-08-03T01:23:35.537" v="9"/>
        <pc:sldMkLst>
          <pc:docMk/>
          <pc:sldMk cId="185091141" sldId="2955"/>
        </pc:sldMkLst>
      </pc:sldChg>
      <pc:sldChg chg="add">
        <pc:chgData name="Yi Lu" userId="S::ylu174@jh.edu::a5218032-baa1-4f36-b196-5544439c3648" providerId="AD" clId="Web-{69D65265-5158-47ED-5C29-C48D5D8168E4}" dt="2025-08-03T01:23:35.583" v="10"/>
        <pc:sldMkLst>
          <pc:docMk/>
          <pc:sldMk cId="1584793335" sldId="2959"/>
        </pc:sldMkLst>
      </pc:sldChg>
      <pc:sldChg chg="add">
        <pc:chgData name="Yi Lu" userId="S::ylu174@jh.edu::a5218032-baa1-4f36-b196-5544439c3648" providerId="AD" clId="Web-{69D65265-5158-47ED-5C29-C48D5D8168E4}" dt="2025-08-03T01:23:35.615" v="11"/>
        <pc:sldMkLst>
          <pc:docMk/>
          <pc:sldMk cId="1329621377" sldId="2960"/>
        </pc:sldMkLst>
      </pc:sldChg>
      <pc:sldChg chg="add">
        <pc:chgData name="Yi Lu" userId="S::ylu174@jh.edu::a5218032-baa1-4f36-b196-5544439c3648" providerId="AD" clId="Web-{69D65265-5158-47ED-5C29-C48D5D8168E4}" dt="2025-08-03T01:23:35.662" v="12"/>
        <pc:sldMkLst>
          <pc:docMk/>
          <pc:sldMk cId="2631310671" sldId="2961"/>
        </pc:sldMkLst>
      </pc:sldChg>
      <pc:sldChg chg="add">
        <pc:chgData name="Yi Lu" userId="S::ylu174@jh.edu::a5218032-baa1-4f36-b196-5544439c3648" providerId="AD" clId="Web-{69D65265-5158-47ED-5C29-C48D5D8168E4}" dt="2025-08-03T01:23:35.708" v="13"/>
        <pc:sldMkLst>
          <pc:docMk/>
          <pc:sldMk cId="4063618944" sldId="29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BF836-0230-0D57-F552-63804C73D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50746" y="1126673"/>
            <a:ext cx="5273407" cy="5912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/>
              <a:t>VQA-AG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83841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DAA46F3-D885-FC1E-C8C2-F623AB163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5830" y="756256"/>
            <a:ext cx="9294563" cy="5912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/>
              <a:t>GPN model(Generator-</a:t>
            </a:r>
            <a:r>
              <a:rPr lang="en-US" sz="3600" err="1"/>
              <a:t>Pretester</a:t>
            </a:r>
            <a:r>
              <a:rPr lang="en-US" sz="3600"/>
              <a:t> Network)</a:t>
            </a:r>
            <a:endParaRPr lang="en-US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EB9D965-7EDD-FF82-C29E-293849C9A180}"/>
              </a:ext>
            </a:extLst>
          </p:cNvPr>
          <p:cNvSpPr/>
          <p:nvPr/>
        </p:nvSpPr>
        <p:spPr>
          <a:xfrm>
            <a:off x="3043722" y="2017004"/>
            <a:ext cx="568579" cy="2236423"/>
          </a:xfrm>
          <a:prstGeom prst="lef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06D3D-EDE8-F783-C195-E9C0FC823B82}"/>
              </a:ext>
            </a:extLst>
          </p:cNvPr>
          <p:cNvSpPr txBox="1"/>
          <p:nvPr/>
        </p:nvSpPr>
        <p:spPr>
          <a:xfrm>
            <a:off x="252089" y="2949306"/>
            <a:ext cx="27918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GPN model component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A96A4-34D9-197B-3FBF-522E34975ED1}"/>
              </a:ext>
            </a:extLst>
          </p:cNvPr>
          <p:cNvSpPr txBox="1"/>
          <p:nvPr/>
        </p:nvSpPr>
        <p:spPr>
          <a:xfrm>
            <a:off x="3894666" y="2017847"/>
            <a:ext cx="34854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Joint Question-Answer generator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E73E0-1153-9FFA-A081-E701BA52B4C2}"/>
              </a:ext>
            </a:extLst>
          </p:cNvPr>
          <p:cNvSpPr txBox="1"/>
          <p:nvPr/>
        </p:nvSpPr>
        <p:spPr>
          <a:xfrm>
            <a:off x="3894665" y="3982520"/>
            <a:ext cx="2034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Pretester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54019-F16F-5E81-F25C-76A873073DB0}"/>
              </a:ext>
            </a:extLst>
          </p:cNvPr>
          <p:cNvSpPr txBox="1"/>
          <p:nvPr/>
        </p:nvSpPr>
        <p:spPr>
          <a:xfrm>
            <a:off x="1072815" y="5013157"/>
            <a:ext cx="825165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Input: video and question controller(question type)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Output: question-answer pair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8BD97D8-E1DE-3D47-BCFC-C4E884E438C4}"/>
              </a:ext>
            </a:extLst>
          </p:cNvPr>
          <p:cNvSpPr/>
          <p:nvPr/>
        </p:nvSpPr>
        <p:spPr>
          <a:xfrm>
            <a:off x="7634083" y="1557967"/>
            <a:ext cx="568579" cy="1309170"/>
          </a:xfrm>
          <a:prstGeom prst="lef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D661E8-135C-8892-F0D1-299057CCD109}"/>
              </a:ext>
            </a:extLst>
          </p:cNvPr>
          <p:cNvSpPr txBox="1"/>
          <p:nvPr/>
        </p:nvSpPr>
        <p:spPr>
          <a:xfrm>
            <a:off x="8319185" y="1377107"/>
            <a:ext cx="16743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Video encoder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BD8F6B-E11D-CD8C-3C39-6679625724CE}"/>
              </a:ext>
            </a:extLst>
          </p:cNvPr>
          <p:cNvSpPr txBox="1"/>
          <p:nvPr/>
        </p:nvSpPr>
        <p:spPr>
          <a:xfrm>
            <a:off x="8319184" y="2019757"/>
            <a:ext cx="21334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Answer selector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7BD9D0-285B-2502-C024-81700152ECA9}"/>
              </a:ext>
            </a:extLst>
          </p:cNvPr>
          <p:cNvSpPr txBox="1"/>
          <p:nvPr/>
        </p:nvSpPr>
        <p:spPr>
          <a:xfrm>
            <a:off x="8401811" y="2662408"/>
            <a:ext cx="21334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Question generator</a:t>
            </a:r>
          </a:p>
        </p:txBody>
      </p:sp>
    </p:spTree>
    <p:extLst>
      <p:ext uri="{BB962C8B-B14F-4D97-AF65-F5344CB8AC3E}">
        <p14:creationId xmlns:p14="http://schemas.microsoft.com/office/powerpoint/2010/main" val="1778006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ft Brace 2">
            <a:extLst>
              <a:ext uri="{FF2B5EF4-FFF2-40B4-BE49-F238E27FC236}">
                <a16:creationId xmlns:a16="http://schemas.microsoft.com/office/drawing/2014/main" id="{C0F991A3-4BA4-D5C8-27BE-35BB6496FA8A}"/>
              </a:ext>
            </a:extLst>
          </p:cNvPr>
          <p:cNvSpPr/>
          <p:nvPr/>
        </p:nvSpPr>
        <p:spPr>
          <a:xfrm>
            <a:off x="2768300" y="2163895"/>
            <a:ext cx="568579" cy="2236423"/>
          </a:xfrm>
          <a:prstGeom prst="lef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369491-3C3F-2685-B311-0DC65B2F20FE}"/>
              </a:ext>
            </a:extLst>
          </p:cNvPr>
          <p:cNvSpPr txBox="1"/>
          <p:nvPr/>
        </p:nvSpPr>
        <p:spPr>
          <a:xfrm>
            <a:off x="461210" y="3088105"/>
            <a:ext cx="23066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Model input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068F9-101A-521D-19A4-68FB3C9B3655}"/>
              </a:ext>
            </a:extLst>
          </p:cNvPr>
          <p:cNvSpPr txBox="1"/>
          <p:nvPr/>
        </p:nvSpPr>
        <p:spPr>
          <a:xfrm>
            <a:off x="3749841" y="2015289"/>
            <a:ext cx="56723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CNN extracted visual features(dim R^{n*2048})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E7B4F-FBD8-DE13-0B7F-75B8525190F8}"/>
              </a:ext>
            </a:extLst>
          </p:cNvPr>
          <p:cNvSpPr txBox="1"/>
          <p:nvPr/>
        </p:nvSpPr>
        <p:spPr>
          <a:xfrm>
            <a:off x="3749841" y="3089433"/>
            <a:ext cx="3377177" cy="3785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object features(dim R^{n*256})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07839-01E7-3A3C-807C-FE897DAA9B7A}"/>
              </a:ext>
            </a:extLst>
          </p:cNvPr>
          <p:cNvSpPr txBox="1"/>
          <p:nvPr/>
        </p:nvSpPr>
        <p:spPr>
          <a:xfrm>
            <a:off x="3749841" y="4025867"/>
            <a:ext cx="56723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Question controller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C4D25-44FB-8B00-73A5-7DAD62F9C0C5}"/>
              </a:ext>
            </a:extLst>
          </p:cNvPr>
          <p:cNvSpPr txBox="1"/>
          <p:nvPr/>
        </p:nvSpPr>
        <p:spPr>
          <a:xfrm>
            <a:off x="1574131" y="451184"/>
            <a:ext cx="57651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/>
              <a:t>Model input and output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F179029-56F9-6512-B645-031FF8E72A83}"/>
              </a:ext>
            </a:extLst>
          </p:cNvPr>
          <p:cNvSpPr/>
          <p:nvPr/>
        </p:nvSpPr>
        <p:spPr>
          <a:xfrm>
            <a:off x="2685673" y="5037461"/>
            <a:ext cx="568579" cy="1419339"/>
          </a:xfrm>
          <a:prstGeom prst="lef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33DAB-DD77-7417-26A5-5A4F05B7B888}"/>
              </a:ext>
            </a:extLst>
          </p:cNvPr>
          <p:cNvSpPr txBox="1"/>
          <p:nvPr/>
        </p:nvSpPr>
        <p:spPr>
          <a:xfrm>
            <a:off x="1048776" y="5557719"/>
            <a:ext cx="16364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Model 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A4E2F-AF75-2A0D-5A69-FF6F2B6E778D}"/>
              </a:ext>
            </a:extLst>
          </p:cNvPr>
          <p:cNvSpPr txBox="1"/>
          <p:nvPr/>
        </p:nvSpPr>
        <p:spPr>
          <a:xfrm>
            <a:off x="3584587" y="4962300"/>
            <a:ext cx="56723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Question Q={Q_1,…,</a:t>
            </a:r>
            <a:r>
              <a:rPr lang="en-US" err="1"/>
              <a:t>Q_m</a:t>
            </a:r>
            <a:r>
              <a:rPr lang="en-US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A59988-5394-0FB9-0F3D-490235C74047}"/>
              </a:ext>
            </a:extLst>
          </p:cNvPr>
          <p:cNvSpPr txBox="1"/>
          <p:nvPr/>
        </p:nvSpPr>
        <p:spPr>
          <a:xfrm>
            <a:off x="3584587" y="6073167"/>
            <a:ext cx="3377177" cy="3785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206716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F99AF-1FC2-B4CC-7F56-EBA73B1E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216FBD-C2BE-3229-35B3-39A057901280}"/>
              </a:ext>
            </a:extLst>
          </p:cNvPr>
          <p:cNvSpPr txBox="1"/>
          <p:nvPr/>
        </p:nvSpPr>
        <p:spPr>
          <a:xfrm>
            <a:off x="3249129" y="621148"/>
            <a:ext cx="488559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Model Structure</a:t>
            </a:r>
          </a:p>
          <a:p>
            <a:endParaRPr lang="en-US" sz="4000" dirty="0"/>
          </a:p>
        </p:txBody>
      </p:sp>
      <p:pic>
        <p:nvPicPr>
          <p:cNvPr id="4" name="Picture 3" descr="A diagram of a video encoder&#10;&#10;AI-generated content may be incorrect.">
            <a:extLst>
              <a:ext uri="{FF2B5EF4-FFF2-40B4-BE49-F238E27FC236}">
                <a16:creationId xmlns:a16="http://schemas.microsoft.com/office/drawing/2014/main" id="{B287EDEC-A3DD-88BA-764B-22E9907ED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29" y="1718631"/>
            <a:ext cx="8105086" cy="395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E0FFD-3738-A6AD-84E0-EFBF7948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0E2D94-894A-60DA-B5A2-5C0DFF8D8833}"/>
              </a:ext>
            </a:extLst>
          </p:cNvPr>
          <p:cNvSpPr txBox="1"/>
          <p:nvPr/>
        </p:nvSpPr>
        <p:spPr>
          <a:xfrm>
            <a:off x="672366" y="179990"/>
            <a:ext cx="101293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000000"/>
                </a:solidFill>
                <a:highlight>
                  <a:srgbClr val="00FFFF"/>
                </a:highlight>
              </a:rPr>
              <a:t>Joint Question-Answer Generator(JQAG)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E6395-AFD5-94A2-E7D9-C5EBC29B361F}"/>
              </a:ext>
            </a:extLst>
          </p:cNvPr>
          <p:cNvSpPr txBox="1"/>
          <p:nvPr/>
        </p:nvSpPr>
        <p:spPr>
          <a:xfrm>
            <a:off x="757892" y="982699"/>
            <a:ext cx="54442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arenR"/>
            </a:pPr>
            <a:r>
              <a:rPr lang="en-US" sz="3200"/>
              <a:t>Video Encoder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D8391-D73F-0AC1-102C-9E3E0700FE92}"/>
              </a:ext>
            </a:extLst>
          </p:cNvPr>
          <p:cNvSpPr txBox="1"/>
          <p:nvPr/>
        </p:nvSpPr>
        <p:spPr>
          <a:xfrm>
            <a:off x="872289" y="1694447"/>
            <a:ext cx="9164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Intention: generate a question-answer pair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A39F3-9922-BA19-CC32-4797FB485853}"/>
              </a:ext>
            </a:extLst>
          </p:cNvPr>
          <p:cNvSpPr txBox="1"/>
          <p:nvPr/>
        </p:nvSpPr>
        <p:spPr>
          <a:xfrm>
            <a:off x="876518" y="2436394"/>
            <a:ext cx="813943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Step 1: fuse frame feature and object feature with a projection </a:t>
            </a:r>
            <a:r>
              <a:rPr lang="en-US" dirty="0" err="1"/>
              <a:t>W_proj</a:t>
            </a:r>
            <a:endParaRPr lang="en-US" dirty="0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dirty="0"/>
              <a:t>Step 2: Utilize Question Controller C to incorporate  question type</a:t>
            </a:r>
          </a:p>
          <a:p>
            <a:endParaRPr lang="en-US"/>
          </a:p>
          <a:p>
            <a:endParaRPr lang="en-US"/>
          </a:p>
          <a:p>
            <a:r>
              <a:rPr lang="en-US" dirty="0"/>
              <a:t>Step 3: Feed </a:t>
            </a:r>
            <a:r>
              <a:rPr lang="en-US" dirty="0" err="1"/>
              <a:t>V^src</a:t>
            </a:r>
            <a:r>
              <a:rPr lang="en-US" dirty="0"/>
              <a:t> into self attention layers, and initialize first layer by positional encoding of </a:t>
            </a:r>
            <a:r>
              <a:rPr lang="en-US" dirty="0" err="1"/>
              <a:t>V^src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4: mean-pool the last layer output to obtain the clip level representation, and receive video embedding for answer and question generation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91C7E-8EC2-8965-48B3-668D9562F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44" y="2792030"/>
            <a:ext cx="2657475" cy="447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0CEC2-9705-B003-A624-0166FB795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71" y="3823312"/>
            <a:ext cx="1905000" cy="533400"/>
          </a:xfrm>
          <a:prstGeom prst="rect">
            <a:avLst/>
          </a:prstGeom>
        </p:spPr>
      </p:pic>
      <p:pic>
        <p:nvPicPr>
          <p:cNvPr id="8" name="Picture 7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783C45D2-1A08-45A1-B4ED-B87E70A0D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62" y="5003895"/>
            <a:ext cx="4029075" cy="485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629590-C698-4F39-E2FD-690384F0C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255" y="5990995"/>
            <a:ext cx="4667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93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3FED9-B9D5-3163-03B0-38DBF558B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8DA0D-1E5E-5F33-387D-8AB0FD8B8EE8}"/>
              </a:ext>
            </a:extLst>
          </p:cNvPr>
          <p:cNvSpPr txBox="1"/>
          <p:nvPr/>
        </p:nvSpPr>
        <p:spPr>
          <a:xfrm>
            <a:off x="672366" y="179990"/>
            <a:ext cx="101293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highlight>
                  <a:srgbClr val="00FFFF"/>
                </a:highlight>
              </a:rPr>
              <a:t>Joint Question-Answer Generator(JQAG)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456B9-CD44-8E11-1704-B6B93F217FA4}"/>
              </a:ext>
            </a:extLst>
          </p:cNvPr>
          <p:cNvSpPr txBox="1"/>
          <p:nvPr/>
        </p:nvSpPr>
        <p:spPr>
          <a:xfrm>
            <a:off x="757892" y="982699"/>
            <a:ext cx="54442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2) Answer selector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83415-F81B-484F-BB44-AC710C4C5EF0}"/>
              </a:ext>
            </a:extLst>
          </p:cNvPr>
          <p:cNvSpPr txBox="1"/>
          <p:nvPr/>
        </p:nvSpPr>
        <p:spPr>
          <a:xfrm>
            <a:off x="872289" y="1694447"/>
            <a:ext cx="9164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Intention: produce answer proposal vector according to the video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7D8FC-E841-FF6A-C233-C050FF4F025D}"/>
              </a:ext>
            </a:extLst>
          </p:cNvPr>
          <p:cNvSpPr txBox="1"/>
          <p:nvPr/>
        </p:nvSpPr>
        <p:spPr>
          <a:xfrm>
            <a:off x="876518" y="2436394"/>
            <a:ext cx="813943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Take video embedding and feed forward by two trainable linear layers, and receive answer proposal vector.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dirty="0"/>
              <a:t>It represents the distribution of answer likelihood for each candidate answer.</a:t>
            </a:r>
          </a:p>
          <a:p>
            <a:r>
              <a:rPr lang="en-US" dirty="0"/>
              <a:t>A is picked by picking the one with the highest likelihood.</a:t>
            </a:r>
          </a:p>
          <a:p>
            <a:endParaRPr lang="en-US" dirty="0"/>
          </a:p>
          <a:p>
            <a:r>
              <a:rPr lang="en-US" dirty="0"/>
              <a:t>Training stage: A is optimized by cross entropy loss</a:t>
            </a:r>
          </a:p>
          <a:p>
            <a:endParaRPr lang="en-US" dirty="0"/>
          </a:p>
        </p:txBody>
      </p:sp>
      <p:pic>
        <p:nvPicPr>
          <p:cNvPr id="8" name="Picture 7" descr="A close up of a text&#10;&#10;AI-generated content may be incorrect.">
            <a:extLst>
              <a:ext uri="{FF2B5EF4-FFF2-40B4-BE49-F238E27FC236}">
                <a16:creationId xmlns:a16="http://schemas.microsoft.com/office/drawing/2014/main" id="{97DA25CD-3FF0-D53A-D57A-B0BFF1012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44" y="3190875"/>
            <a:ext cx="5067300" cy="476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8D6D8A-85CB-20B1-C3F2-A62ED0E14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14" y="5000166"/>
            <a:ext cx="349567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2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3BCDC-66C3-EFA1-2166-16A8E5EC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AFA68-975C-64A7-222E-332F61539BCE}"/>
              </a:ext>
            </a:extLst>
          </p:cNvPr>
          <p:cNvSpPr txBox="1"/>
          <p:nvPr/>
        </p:nvSpPr>
        <p:spPr>
          <a:xfrm>
            <a:off x="672366" y="179990"/>
            <a:ext cx="101293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highlight>
                  <a:srgbClr val="00FFFF"/>
                </a:highlight>
              </a:rPr>
              <a:t>Joint Question-Answer Generator(JQAG)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E1E32-5853-A63F-4E8C-DC4F8AE106C9}"/>
              </a:ext>
            </a:extLst>
          </p:cNvPr>
          <p:cNvSpPr txBox="1"/>
          <p:nvPr/>
        </p:nvSpPr>
        <p:spPr>
          <a:xfrm>
            <a:off x="757892" y="982699"/>
            <a:ext cx="544428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3) Question Generator</a:t>
            </a:r>
          </a:p>
          <a:p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B26F9-32F3-9206-606D-D4B50850B309}"/>
              </a:ext>
            </a:extLst>
          </p:cNvPr>
          <p:cNvSpPr txBox="1"/>
          <p:nvPr/>
        </p:nvSpPr>
        <p:spPr>
          <a:xfrm>
            <a:off x="872289" y="1694447"/>
            <a:ext cx="9164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Intention: output the question based on video embedding and answer proposal vector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6AD03-6E86-21AF-FABC-0572A8828990}"/>
              </a:ext>
            </a:extLst>
          </p:cNvPr>
          <p:cNvSpPr txBox="1"/>
          <p:nvPr/>
        </p:nvSpPr>
        <p:spPr>
          <a:xfrm>
            <a:off x="857249" y="2537113"/>
            <a:ext cx="918729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With LSTM decoder(2 hidden layers and an output layer), generate the question word-by-word</a:t>
            </a:r>
          </a:p>
          <a:p>
            <a:r>
              <a:rPr lang="en-US" dirty="0"/>
              <a:t>Qi: </a:t>
            </a:r>
            <a:r>
              <a:rPr lang="en-US" dirty="0" err="1"/>
              <a:t>i-th</a:t>
            </a:r>
            <a:r>
              <a:rPr lang="en-US" dirty="0"/>
              <a:t> word, Hi: </a:t>
            </a:r>
            <a:r>
              <a:rPr lang="en-US" dirty="0" err="1"/>
              <a:t>i-th</a:t>
            </a:r>
            <a:r>
              <a:rPr lang="en-US" dirty="0"/>
              <a:t> hidden state,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Initialization of hidden state: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Loss of question generator: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Ultimately, the last Q is the generated question.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5E38C1-6A8C-8865-F072-2BC490CD5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8" y="3433763"/>
            <a:ext cx="3209925" cy="371475"/>
          </a:xfrm>
          <a:prstGeom prst="rect">
            <a:avLst/>
          </a:prstGeom>
        </p:spPr>
      </p:pic>
      <p:pic>
        <p:nvPicPr>
          <p:cNvPr id="14" name="Picture 13" descr="A black and white image of a circle and a black circle&#10;&#10;AI-generated content may be incorrect.">
            <a:extLst>
              <a:ext uri="{FF2B5EF4-FFF2-40B4-BE49-F238E27FC236}">
                <a16:creationId xmlns:a16="http://schemas.microsoft.com/office/drawing/2014/main" id="{8B580FE5-69DF-FBD3-65FB-8F0465687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76" y="4265195"/>
            <a:ext cx="2857500" cy="533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272CB0-411D-5E59-3406-EBABF54E5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71" y="5378868"/>
            <a:ext cx="292417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1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7436-1A91-11EA-1874-5BA678494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6E2723-9897-BD39-FE09-CCCBA99D9792}"/>
              </a:ext>
            </a:extLst>
          </p:cNvPr>
          <p:cNvSpPr txBox="1"/>
          <p:nvPr/>
        </p:nvSpPr>
        <p:spPr>
          <a:xfrm>
            <a:off x="672366" y="179990"/>
            <a:ext cx="101293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 err="1">
                <a:solidFill>
                  <a:srgbClr val="000000"/>
                </a:solidFill>
                <a:highlight>
                  <a:srgbClr val="00FFFF"/>
                </a:highlight>
              </a:rPr>
              <a:t>Pretester</a:t>
            </a:r>
            <a:r>
              <a:rPr lang="en-US" sz="4000" dirty="0">
                <a:solidFill>
                  <a:srgbClr val="000000"/>
                </a:solidFill>
                <a:highlight>
                  <a:srgbClr val="00FFFF"/>
                </a:highlight>
              </a:rPr>
              <a:t>(PT)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C2FEF-F6C2-AF36-F5CE-7A2910DDB220}"/>
              </a:ext>
            </a:extLst>
          </p:cNvPr>
          <p:cNvSpPr txBox="1"/>
          <p:nvPr/>
        </p:nvSpPr>
        <p:spPr>
          <a:xfrm>
            <a:off x="671763" y="1132973"/>
            <a:ext cx="91640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Intention: It pretests the generated question and generates an Answer Sheet Vector          , then it optimizes the consistency between answer sheet vector          ,  answer proposal         , and the ground truth answer  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13DA0-AEE0-5EE0-C68F-4AA19AB56012}"/>
              </a:ext>
            </a:extLst>
          </p:cNvPr>
          <p:cNvSpPr txBox="1"/>
          <p:nvPr/>
        </p:nvSpPr>
        <p:spPr>
          <a:xfrm>
            <a:off x="675992" y="1965157"/>
            <a:ext cx="813943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Step 1: Answering layer acts as an agent to answer the question and generates the Answer Sheet Vector 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dirty="0"/>
              <a:t>Step 2: Compute Target Consistency Loss(TCL) according to the following</a:t>
            </a:r>
          </a:p>
          <a:p>
            <a:endParaRPr lang="en-US" dirty="0"/>
          </a:p>
          <a:p>
            <a:r>
              <a:rPr lang="en-US" dirty="0"/>
              <a:t> (1) CE between Answer Sheet Vector and ground truth</a:t>
            </a:r>
          </a:p>
          <a:p>
            <a:endParaRPr lang="en-US" dirty="0"/>
          </a:p>
          <a:p>
            <a:r>
              <a:rPr lang="en-US" dirty="0"/>
              <a:t>     (2) KL divergence between Answer sheet vector and Answer proposal vector </a:t>
            </a:r>
          </a:p>
          <a:p>
            <a:endParaRPr lang="en-US"/>
          </a:p>
          <a:p>
            <a:r>
              <a:rPr lang="en-US" dirty="0"/>
              <a:t>And TCL is computed via 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Final loss is the sum of TCL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39723-0D25-76BB-AC36-7EFC98859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025" y="1130467"/>
            <a:ext cx="361950" cy="285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A0CEA6-75B2-289B-4F9C-EF2CB4D23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814" y="1411203"/>
            <a:ext cx="361950" cy="285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BBBA6E-EF52-B2FC-1AD6-E965B0356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786" y="1431256"/>
            <a:ext cx="323850" cy="28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2838C3-31C5-F2A5-9E73-44BC2E8D3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764" y="1701466"/>
            <a:ext cx="390525" cy="266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FAC54C-F7F2-1530-BDD3-4B7822773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866" y="2243387"/>
            <a:ext cx="361950" cy="285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C5D550-237C-1518-DFF8-B4FFA9232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38" y="2523875"/>
            <a:ext cx="4581525" cy="4667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F9889A-C17B-3018-59E4-E991BB488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776" y="3786689"/>
            <a:ext cx="3609975" cy="447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47B227-3016-AABF-4DDA-B9D745F3F7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872" y="4391526"/>
            <a:ext cx="2343150" cy="381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0894C6-0808-54D1-D340-EEBC2BC1E6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9153" y="4927409"/>
            <a:ext cx="2295525" cy="4000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CB7029-6ADB-9FB6-7B14-19F220DC1B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7759" y="5641785"/>
            <a:ext cx="2781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18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2025-08-02T18:41:44Z</dcterms:created>
  <dcterms:modified xsi:type="dcterms:W3CDTF">2025-08-03T01:23:46Z</dcterms:modified>
</cp:coreProperties>
</file>